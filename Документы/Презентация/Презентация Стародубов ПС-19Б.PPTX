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77" r:id="rId2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822" autoAdjust="0"/>
  </p:normalViewPr>
  <p:slideViewPr>
    <p:cSldViewPr snapToGrid="0"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6A9E4-1529-4367-B8BE-34B6E2449903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71E79-6D67-4CBE-AD58-4BF52401270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93212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171E79-6D67-4CBE-AD58-4BF52401270A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89621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16059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43847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137157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6821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97939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3128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81391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756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 cstate="print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5226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5603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52755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65F621-9F77-409B-87C2-BEAA1C35D7BC}" type="datetimeFigureOut">
              <a:rPr lang="ru-RU" smtClean="0"/>
              <a:pPr/>
              <a:t>06.05.2022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E5AEE16-C978-4836-9B79-A912041A5827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460035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6390084" y="4995522"/>
            <a:ext cx="275391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Разработал студент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группы ПС-19Б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Стародубов Александр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611878" y="6488668"/>
            <a:ext cx="20514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г. Заволжье,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2022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1"/>
          <p:cNvSpPr>
            <a:spLocks noChangeArrowheads="1"/>
          </p:cNvSpPr>
          <p:nvPr/>
        </p:nvSpPr>
        <p:spPr bwMode="auto">
          <a:xfrm>
            <a:off x="1764248" y="96826"/>
            <a:ext cx="574670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ru-RU" sz="1350" b="1" dirty="0">
                <a:latin typeface="Times New Roman" pitchFamily="18" charset="0"/>
                <a:cs typeface="Times New Roman" pitchFamily="18" charset="0"/>
              </a:rPr>
              <a:t>Министерство образования Нижегородской области</a:t>
            </a:r>
          </a:p>
          <a:p>
            <a:pPr algn="ctr"/>
            <a:r>
              <a:rPr lang="ru-RU" sz="1350" b="1" dirty="0">
                <a:latin typeface="Times New Roman" pitchFamily="18" charset="0"/>
                <a:cs typeface="Times New Roman" pitchFamily="18" charset="0"/>
              </a:rPr>
              <a:t>Государственное бюджетное профессиональное</a:t>
            </a:r>
          </a:p>
          <a:p>
            <a:pPr algn="ctr"/>
            <a:r>
              <a:rPr lang="ru-RU" sz="1350" b="1" dirty="0">
                <a:latin typeface="Times New Roman" pitchFamily="18" charset="0"/>
                <a:cs typeface="Times New Roman" pitchFamily="18" charset="0"/>
              </a:rPr>
              <a:t>Образовательное учреждение</a:t>
            </a:r>
          </a:p>
          <a:p>
            <a:pPr algn="ctr"/>
            <a:r>
              <a:rPr lang="ru-RU" sz="1350" b="1" dirty="0">
                <a:latin typeface="Times New Roman" pitchFamily="18" charset="0"/>
                <a:cs typeface="Times New Roman" pitchFamily="18" charset="0"/>
              </a:rPr>
              <a:t>«Заволжский автомоторный техникум»</a:t>
            </a: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1208600" y="1828521"/>
            <a:ext cx="68580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ru-RU" sz="2700" dirty="0">
                <a:latin typeface="Times New Roman" pitchFamily="18" charset="0"/>
                <a:cs typeface="Times New Roman" pitchFamily="18" charset="0"/>
              </a:rPr>
              <a:t>Курсовой проект</a:t>
            </a:r>
          </a:p>
          <a:p>
            <a:pPr algn="ctr"/>
            <a:r>
              <a:rPr lang="ru-RU" sz="2700" dirty="0">
                <a:latin typeface="Times New Roman" pitchFamily="18" charset="0"/>
                <a:cs typeface="Times New Roman" pitchFamily="18" charset="0"/>
              </a:rPr>
              <a:t>Тема: Разработка автоматизированной информационной системы </a:t>
            </a:r>
            <a:r>
              <a:rPr lang="ru-RU" sz="2700" dirty="0" smtClean="0">
                <a:latin typeface="Times New Roman" pitchFamily="18" charset="0"/>
                <a:cs typeface="Times New Roman" pitchFamily="18" charset="0"/>
              </a:rPr>
              <a:t>для учета посещения детского сада</a:t>
            </a:r>
            <a:endParaRPr lang="ru-RU" sz="27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4244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-483678" y="28677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Введение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581891" y="1898073"/>
            <a:ext cx="7675417" cy="5664134"/>
          </a:xfrm>
        </p:spPr>
        <p:txBody>
          <a:bodyPr>
            <a:normAutofit/>
          </a:bodyPr>
          <a:lstStyle/>
          <a:p>
            <a:pPr indent="-72000"/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smtClean="0"/>
              <a:t>Не всегда дошкольные образовательные учреждения используют автоматизированные информационные системы, составляя различные документы вручную. Именно поэтому существует потребность в автоматизации работы некоторых детских садов.</a:t>
            </a:r>
          </a:p>
          <a:p>
            <a:r>
              <a:rPr lang="ru-RU" dirty="0" smtClean="0"/>
              <a:t>Автоматизация деятельности дает возможность объединить все рабочие процессы в одном информационном пространстве.</a:t>
            </a:r>
          </a:p>
          <a:p>
            <a:r>
              <a:rPr lang="ru-RU" dirty="0" smtClean="0"/>
              <a:t>Одним из плюсов автоматизации дошкольных образовательных учреждений является то, что повышается производительность труда и оптимизируется работа над такими рутинными вещами, как создание отчетов, оформление договоров.</a:t>
            </a:r>
          </a:p>
        </p:txBody>
      </p:sp>
    </p:spTree>
    <p:extLst>
      <p:ext uri="{BB962C8B-B14F-4D97-AF65-F5344CB8AC3E}">
        <p14:creationId xmlns:p14="http://schemas.microsoft.com/office/powerpoint/2010/main" xmlns="" val="15978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-24562" y="260648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Назначение разработки</a:t>
            </a:r>
          </a:p>
        </p:txBody>
      </p:sp>
      <p:sp>
        <p:nvSpPr>
          <p:cNvPr id="6" name="Содержимое 2"/>
          <p:cNvSpPr>
            <a:spLocks noGrp="1"/>
          </p:cNvSpPr>
          <p:nvPr>
            <p:ph idx="1"/>
          </p:nvPr>
        </p:nvSpPr>
        <p:spPr>
          <a:xfrm>
            <a:off x="788943" y="1797714"/>
            <a:ext cx="7241881" cy="5805264"/>
          </a:xfrm>
        </p:spPr>
        <p:txBody>
          <a:bodyPr>
            <a:noAutofit/>
          </a:bodyPr>
          <a:lstStyle/>
          <a:p>
            <a:r>
              <a:rPr lang="ru-RU" sz="2800" dirty="0" smtClean="0"/>
              <a:t>Автоматизированная информационная система учета посещаемости детского сада предназначена для минимизации затрат времени, материальных, трудовых ресурсов в ходе деятельности детского сада.</a:t>
            </a:r>
            <a:endParaRPr lang="ru-RU" sz="2800" dirty="0"/>
          </a:p>
        </p:txBody>
      </p:sp>
      <p:pic>
        <p:nvPicPr>
          <p:cNvPr id="4" name="Рисунок 3" descr="oformlenie-fasada-detskogo-sad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99361" y="3860223"/>
            <a:ext cx="3652058" cy="228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1081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-24562" y="260648"/>
            <a:ext cx="8686800" cy="93610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Требования к функциональный характеристикам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423577" y="1870154"/>
            <a:ext cx="7819086" cy="5805264"/>
          </a:xfrm>
        </p:spPr>
        <p:txBody>
          <a:bodyPr>
            <a:noAutofit/>
          </a:bodyPr>
          <a:lstStyle/>
          <a:p>
            <a:r>
              <a:rPr lang="en-US" sz="1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900" dirty="0" smtClean="0"/>
              <a:t>Автоматизированная информационная система учета посещения детского сада должна обеспечивать выполнение следующих функций:</a:t>
            </a:r>
          </a:p>
          <a:p>
            <a:pPr lvl="1"/>
            <a:r>
              <a:rPr lang="ru-RU" sz="1900" dirty="0" smtClean="0"/>
              <a:t>продуманный интерфейс в соответствии с руководством по стилям;</a:t>
            </a:r>
          </a:p>
          <a:p>
            <a:pPr lvl="1"/>
            <a:r>
              <a:rPr lang="ru-RU" sz="1900" dirty="0" smtClean="0"/>
              <a:t>авторизация должна обеспечивать вход по двум </a:t>
            </a:r>
            <a:r>
              <a:rPr lang="ru-RU" sz="1900" dirty="0" err="1" smtClean="0"/>
              <a:t>категориям:воспитатель</a:t>
            </a:r>
            <a:r>
              <a:rPr lang="ru-RU" sz="1900" dirty="0" smtClean="0"/>
              <a:t> - имеет ограниченный функционал ведения базы данных, заведующий - имеет полный доступ к ведению базы данных;</a:t>
            </a:r>
          </a:p>
          <a:p>
            <a:pPr lvl="1"/>
            <a:r>
              <a:rPr lang="ru-RU" sz="1900" dirty="0" smtClean="0"/>
              <a:t>ведение и редактирование данных: добавление, удаление, редактирование;</a:t>
            </a:r>
          </a:p>
          <a:p>
            <a:pPr lvl="1"/>
            <a:r>
              <a:rPr lang="ru-RU" sz="1900" dirty="0" smtClean="0"/>
              <a:t>просмотр информации: о воспитанниках, о сотрудниках, о родителях;</a:t>
            </a:r>
          </a:p>
          <a:p>
            <a:pPr lvl="1"/>
            <a:r>
              <a:rPr lang="ru-RU" sz="1900" dirty="0" smtClean="0"/>
              <a:t>контроль переполнения группы;</a:t>
            </a:r>
          </a:p>
          <a:p>
            <a:pPr lvl="1"/>
            <a:r>
              <a:rPr lang="ru-RU" sz="1900" dirty="0" smtClean="0"/>
              <a:t>оформление договора об оплате услуг;</a:t>
            </a:r>
          </a:p>
          <a:p>
            <a:pPr lvl="1"/>
            <a:r>
              <a:rPr lang="ru-RU" sz="1900" dirty="0" smtClean="0"/>
              <a:t>оформление отчета об посещаемости: день, месяц;</a:t>
            </a:r>
          </a:p>
          <a:p>
            <a:pPr lvl="1"/>
            <a:r>
              <a:rPr lang="ru-RU" sz="1900" dirty="0" smtClean="0"/>
              <a:t>поиск информации с использованием фильтра: по статусу, по дате.</a:t>
            </a:r>
            <a:endParaRPr lang="en-US" sz="1900" dirty="0" smtClean="0"/>
          </a:p>
          <a:p>
            <a:pPr lvl="1"/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xmlns="" val="271152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Входные и выходные данные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506705" y="1787027"/>
            <a:ext cx="7241881" cy="5805264"/>
          </a:xfrm>
        </p:spPr>
        <p:txBody>
          <a:bodyPr>
            <a:noAutofit/>
          </a:bodyPr>
          <a:lstStyle/>
          <a:p>
            <a:pPr lvl="1">
              <a:buNone/>
            </a:pP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3200" dirty="0" smtClean="0"/>
              <a:t>Входная информация:</a:t>
            </a:r>
          </a:p>
          <a:p>
            <a:pPr lvl="1">
              <a:spcAft>
                <a:spcPts val="1800"/>
              </a:spcAft>
            </a:pPr>
            <a:r>
              <a:rPr lang="ru-RU" sz="2200" dirty="0" smtClean="0"/>
              <a:t>личные данные: воспитанников, родителей, персонала;</a:t>
            </a:r>
          </a:p>
          <a:p>
            <a:pPr lvl="1">
              <a:buNone/>
            </a:pPr>
            <a:r>
              <a:rPr lang="en-US" sz="1400" dirty="0" smtClean="0"/>
              <a:t>	</a:t>
            </a:r>
            <a:r>
              <a:rPr lang="ru-RU" sz="3200" dirty="0" smtClean="0"/>
              <a:t>Выходная информация: </a:t>
            </a:r>
          </a:p>
          <a:p>
            <a:pPr lvl="1"/>
            <a:r>
              <a:rPr lang="ru-RU" sz="2200" dirty="0" smtClean="0"/>
              <a:t>договор оплаты услуг;</a:t>
            </a:r>
          </a:p>
          <a:p>
            <a:pPr lvl="1"/>
            <a:r>
              <a:rPr lang="ru-RU" sz="2200" dirty="0" smtClean="0"/>
              <a:t>отчеты посещаемости.</a:t>
            </a:r>
          </a:p>
          <a:p>
            <a:pPr marL="0" indent="0" algn="just">
              <a:buNone/>
            </a:pPr>
            <a:endParaRPr lang="ru-RU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 descr="image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17128" y="3327255"/>
            <a:ext cx="2609416" cy="260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8261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Системные требования</a:t>
            </a:r>
          </a:p>
        </p:txBody>
      </p:sp>
      <p:sp>
        <p:nvSpPr>
          <p:cNvPr id="7" name="Содержимое 2"/>
          <p:cNvSpPr>
            <a:spLocks noGrp="1"/>
          </p:cNvSpPr>
          <p:nvPr>
            <p:ph idx="1"/>
          </p:nvPr>
        </p:nvSpPr>
        <p:spPr>
          <a:xfrm>
            <a:off x="358263" y="1967136"/>
            <a:ext cx="8785737" cy="5469984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ru-RU" sz="2800" u="sng" dirty="0" smtClean="0"/>
              <a:t>Минимальные системные требования:</a:t>
            </a:r>
          </a:p>
          <a:p>
            <a:pPr lvl="1"/>
            <a:r>
              <a:rPr lang="ru-RU" sz="2400" dirty="0" smtClean="0"/>
              <a:t>не ниже </a:t>
            </a:r>
            <a:r>
              <a:rPr lang="en-US" sz="2400" dirty="0" smtClean="0"/>
              <a:t>Windows</a:t>
            </a:r>
            <a:r>
              <a:rPr lang="ru-RU" sz="2400" dirty="0" smtClean="0"/>
              <a:t> 7; </a:t>
            </a:r>
          </a:p>
          <a:p>
            <a:pPr lvl="1"/>
            <a:r>
              <a:rPr lang="ru-RU" sz="2400" dirty="0" smtClean="0"/>
              <a:t>тактовая частота процессора – 2 ГГц; </a:t>
            </a:r>
          </a:p>
          <a:p>
            <a:pPr lvl="1"/>
            <a:r>
              <a:rPr lang="ru-RU" sz="2400" dirty="0" smtClean="0"/>
              <a:t>объем оперативной памяти 2 Гб; </a:t>
            </a:r>
          </a:p>
          <a:p>
            <a:pPr lvl="1"/>
            <a:r>
              <a:rPr lang="ru-RU" sz="2400" dirty="0" smtClean="0"/>
              <a:t>объем свободного дискового пространства не менее 500 МБ; </a:t>
            </a:r>
          </a:p>
          <a:p>
            <a:pPr lvl="1"/>
            <a:r>
              <a:rPr lang="ru-RU" sz="2400" dirty="0" smtClean="0"/>
              <a:t>разрешение монитора 1366х768; </a:t>
            </a:r>
          </a:p>
          <a:p>
            <a:pPr lvl="1"/>
            <a:r>
              <a:rPr lang="ru-RU" sz="2400" dirty="0" smtClean="0"/>
              <a:t>наличие устройства чтения компакт-дисков. 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2465295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93610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Требования к программной документации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332508" y="1884218"/>
            <a:ext cx="8575964" cy="535893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3200" dirty="0"/>
              <a:t>Основными документами регламентирующие разработку системы являются (в ходе разработки программы должны быть подготовлены):</a:t>
            </a:r>
          </a:p>
          <a:p>
            <a:pPr marL="0" indent="0" algn="just">
              <a:buNone/>
            </a:pPr>
            <a:r>
              <a:rPr lang="ru-RU" sz="3200" dirty="0"/>
              <a:t>- текст программы;</a:t>
            </a:r>
          </a:p>
          <a:p>
            <a:pPr marL="0" indent="0" algn="just">
              <a:buNone/>
            </a:pPr>
            <a:r>
              <a:rPr lang="ru-RU" sz="3200" dirty="0"/>
              <a:t>- пояснительная записка;</a:t>
            </a:r>
          </a:p>
          <a:p>
            <a:pPr marL="0" indent="0" algn="just">
              <a:buNone/>
            </a:pPr>
            <a:r>
              <a:rPr lang="ru-RU" sz="3200" dirty="0"/>
              <a:t>- руководство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xmlns="" val="99466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00739" y="479150"/>
            <a:ext cx="8715375" cy="618130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Проектирование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108364" y="2964873"/>
            <a:ext cx="2715490" cy="9836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Структурное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375564" y="3006436"/>
            <a:ext cx="2604654" cy="9836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Объектно-ориентированное</a:t>
            </a:r>
            <a:endParaRPr lang="ru-RU" dirty="0"/>
          </a:p>
        </p:txBody>
      </p:sp>
      <p:sp>
        <p:nvSpPr>
          <p:cNvPr id="12" name="Стрелка вниз 11"/>
          <p:cNvSpPr/>
          <p:nvPr/>
        </p:nvSpPr>
        <p:spPr>
          <a:xfrm rot="2632247">
            <a:off x="2382980" y="1759528"/>
            <a:ext cx="498764" cy="12053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3" name="Стрелка вниз 12"/>
          <p:cNvSpPr/>
          <p:nvPr/>
        </p:nvSpPr>
        <p:spPr>
          <a:xfrm rot="19350136">
            <a:off x="6206836" y="1814947"/>
            <a:ext cx="498764" cy="12053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7107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93610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Диаграмма вариантов использования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53737" y="12054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9527" y="1914525"/>
            <a:ext cx="5215370" cy="3862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4228704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801798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Диаграмма деятельности 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53737" y="12054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471749" y="12054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" name="Рисунок 6" descr="Diagramma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3272" y="1970059"/>
            <a:ext cx="5832764" cy="3931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80520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71177" y="269356"/>
            <a:ext cx="8686800" cy="60150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cap="none" dirty="0" smtClean="0">
                <a:latin typeface="Times New Roman" pitchFamily="18" charset="0"/>
                <a:cs typeface="Times New Roman" pitchFamily="18" charset="0"/>
              </a:rPr>
              <a:t>ER-</a:t>
            </a:r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диаграмма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53737" y="12054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471749" y="12054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 flipV="1">
            <a:off x="2251078" y="221391"/>
            <a:ext cx="71249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" name="Рисунок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99856" y="1802014"/>
            <a:ext cx="4102792" cy="4446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98566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-315080" y="269356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Прототип</a:t>
            </a:r>
          </a:p>
        </p:txBody>
      </p:sp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761999" y="1911925"/>
            <a:ext cx="7633856" cy="3863045"/>
          </a:xfrm>
        </p:spPr>
        <p:txBody>
          <a:bodyPr>
            <a:noAutofit/>
          </a:bodyPr>
          <a:lstStyle/>
          <a:p>
            <a:pPr indent="360000" algn="just">
              <a:spcAft>
                <a:spcPts val="0"/>
              </a:spcAft>
            </a:pPr>
            <a:r>
              <a:rPr lang="ru-RU" sz="2400" dirty="0" smtClean="0"/>
              <a:t>При </a:t>
            </a:r>
            <a:r>
              <a:rPr lang="ru-RU" sz="2400" dirty="0"/>
              <a:t>проектировании программного продукта был выбран горизонтальный прототип, так как его используют, когда необходимо прояснить нечёткие требования, имеющие многоальтернативную реализацию. </a:t>
            </a:r>
            <a:r>
              <a:rPr lang="ru-RU" sz="2400" dirty="0" smtClean="0"/>
              <a:t>Для </a:t>
            </a:r>
            <a:r>
              <a:rPr lang="ru-RU" sz="2400" dirty="0"/>
              <a:t>горизонтальных прототипов не обязательно использовать программную среду реализации, в которой будет разрабатываться конечный вариант системы. </a:t>
            </a:r>
            <a:endParaRPr lang="ru-RU" sz="2400" dirty="0" smtClean="0"/>
          </a:p>
          <a:p>
            <a:pPr indent="360000" algn="just">
              <a:spcBef>
                <a:spcPts val="0"/>
              </a:spcBef>
            </a:pPr>
            <a:r>
              <a:rPr lang="ru-RU" sz="2400" dirty="0" smtClean="0"/>
              <a:t>Также </a:t>
            </a:r>
            <a:r>
              <a:rPr lang="ru-RU" sz="2400" dirty="0"/>
              <a:t>горизонтальный прототип помогает визуально смоделировать макет разрабатываемого программного продукта, не беря во внимание его функциональные </a:t>
            </a:r>
            <a:r>
              <a:rPr lang="ru-RU" sz="2400" dirty="0" smtClean="0"/>
              <a:t>характеристики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26853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Выбор средств разработки</a:t>
            </a:r>
          </a:p>
        </p:txBody>
      </p:sp>
      <p:pic>
        <p:nvPicPr>
          <p:cNvPr id="5" name="Объект 2"/>
          <p:cNvPicPr>
            <a:picLocks noGrp="1" noChangeAspect="1"/>
          </p:cNvPicPr>
          <p:nvPr>
            <p:ph idx="1"/>
          </p:nvPr>
        </p:nvPicPr>
        <p:blipFill rotWithShape="1">
          <a:blip r:embed="rId2" cstate="print"/>
          <a:stretch/>
        </p:blipFill>
        <p:spPr>
          <a:xfrm>
            <a:off x="1565275" y="2147888"/>
            <a:ext cx="6057900" cy="3419475"/>
          </a:xfrm>
          <a:prstGeom prst="rect">
            <a:avLst/>
          </a:prstGeom>
        </p:spPr>
      </p:pic>
      <p:sp>
        <p:nvSpPr>
          <p:cNvPr id="12292" name="AutoShape 4" descr="MySQL — В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296" name="Picture 8" descr="MySQL — Википедия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33714" y="4485735"/>
            <a:ext cx="1689840" cy="873459"/>
          </a:xfrm>
          <a:prstGeom prst="rect">
            <a:avLst/>
          </a:prstGeom>
          <a:noFill/>
        </p:spPr>
      </p:pic>
      <p:pic>
        <p:nvPicPr>
          <p:cNvPr id="12298" name="Picture 10" descr="Курс по работе в Acces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83768" y="4748122"/>
            <a:ext cx="832568" cy="815916"/>
          </a:xfrm>
          <a:prstGeom prst="rect">
            <a:avLst/>
          </a:prstGeom>
          <a:noFill/>
        </p:spPr>
      </p:pic>
      <p:pic>
        <p:nvPicPr>
          <p:cNvPr id="12300" name="Picture 12" descr="галочка скачать бесплатно - Галочка Компьютерные иконки клип-арт - Иконка Зеленая  Галочка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263441" y="4648228"/>
            <a:ext cx="320195" cy="2955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7490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3309" y="2172248"/>
            <a:ext cx="3093575" cy="3009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63607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86574" y="2051367"/>
            <a:ext cx="2660015" cy="3669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4370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7982" y="1914896"/>
            <a:ext cx="2674072" cy="3776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84671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0512" y="2154440"/>
            <a:ext cx="5295265" cy="2881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3693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0563" y="2213869"/>
            <a:ext cx="2099801" cy="3563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32949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70031" y="2016818"/>
            <a:ext cx="2421170" cy="3788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73492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96470" y="2029719"/>
            <a:ext cx="2574839" cy="3719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60732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Программные модули</a:t>
            </a:r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5187" y="2451158"/>
            <a:ext cx="5848667" cy="2522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85341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012" y="2015836"/>
            <a:ext cx="5468558" cy="2743200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0" y="261834"/>
            <a:ext cx="8686800" cy="93610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-5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Программные модули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1855" y="1161619"/>
            <a:ext cx="2287298" cy="4823545"/>
          </a:xfrm>
          <a:prstGeom prst="rect">
            <a:avLst/>
          </a:prstGeom>
        </p:spPr>
      </p:pic>
      <p:sp>
        <p:nvSpPr>
          <p:cNvPr id="4" name="Заголовок 1"/>
          <p:cNvSpPr txBox="1">
            <a:spLocks/>
          </p:cNvSpPr>
          <p:nvPr/>
        </p:nvSpPr>
        <p:spPr>
          <a:xfrm>
            <a:off x="146474" y="164853"/>
            <a:ext cx="8686800" cy="93610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-5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Программные модули</a:t>
            </a:r>
            <a:endParaRPr kumimoji="0" lang="ru-RU" sz="4400" b="1" i="0" u="none" strike="noStrike" kern="1200" cap="none" spc="-50" normalizeH="0" baseline="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46474" y="164853"/>
            <a:ext cx="8686800" cy="936104"/>
          </a:xfrm>
        </p:spPr>
        <p:txBody>
          <a:bodyPr>
            <a:normAutofit/>
          </a:bodyPr>
          <a:lstStyle/>
          <a:p>
            <a:pPr algn="ctr"/>
            <a:r>
              <a:rPr lang="ru-RU" sz="4400" b="1" cap="none" dirty="0" smtClean="0">
                <a:latin typeface="Times New Roman" pitchFamily="18" charset="0"/>
                <a:cs typeface="Times New Roman" pitchFamily="18" charset="0"/>
              </a:rPr>
              <a:t>Заключение</a:t>
            </a:r>
          </a:p>
        </p:txBody>
      </p:sp>
      <p:sp>
        <p:nvSpPr>
          <p:cNvPr id="7" name="Содержимое 2"/>
          <p:cNvSpPr>
            <a:spLocks noGrp="1"/>
          </p:cNvSpPr>
          <p:nvPr>
            <p:ph idx="1"/>
          </p:nvPr>
        </p:nvSpPr>
        <p:spPr>
          <a:xfrm>
            <a:off x="146474" y="1910855"/>
            <a:ext cx="8498762" cy="4755881"/>
          </a:xfrm>
        </p:spPr>
        <p:txBody>
          <a:bodyPr>
            <a:noAutofit/>
          </a:bodyPr>
          <a:lstStyle/>
          <a:p>
            <a:pPr indent="36000">
              <a:buNone/>
            </a:pPr>
            <a:r>
              <a:rPr lang="ru-RU" sz="1400" dirty="0" smtClean="0"/>
              <a:t>В ходе выполнение курсового проекта была разработана автоматизированная информационная система учета посещаемости детского </a:t>
            </a:r>
            <a:r>
              <a:rPr lang="ru-RU" sz="1400" dirty="0" smtClean="0"/>
              <a:t>сада.</a:t>
            </a:r>
          </a:p>
          <a:p>
            <a:pPr indent="36000"/>
            <a:r>
              <a:rPr lang="ru-RU" sz="1400" dirty="0" smtClean="0"/>
              <a:t>Программный </a:t>
            </a:r>
            <a:r>
              <a:rPr lang="ru-RU" sz="1400" dirty="0" smtClean="0"/>
              <a:t>продукт содержит все заявленные требования, которые были поставлены на этапе постановки задач</a:t>
            </a:r>
            <a:r>
              <a:rPr lang="ru-RU" sz="1400" dirty="0" smtClean="0"/>
              <a:t>.</a:t>
            </a:r>
          </a:p>
          <a:p>
            <a:pPr lvl="0">
              <a:buFont typeface="Wingdings" pitchFamily="2" charset="2"/>
              <a:buChar char="q"/>
            </a:pPr>
            <a:r>
              <a:rPr lang="ru-RU" sz="1400" dirty="0" smtClean="0"/>
              <a:t>авторизация должна обеспечивать вход по двум категориям: воспитатель - имеет ограниченный функционал ведения базы данных, заведующий - имеет полный доступ к ведению базы данных;</a:t>
            </a:r>
          </a:p>
          <a:p>
            <a:pPr lvl="0">
              <a:buFont typeface="Wingdings" pitchFamily="2" charset="2"/>
              <a:buChar char="q"/>
            </a:pPr>
            <a:r>
              <a:rPr lang="ru-RU" sz="1400" dirty="0" smtClean="0"/>
              <a:t>ведение и редактирование данных: добавление, удаление, редактирование;</a:t>
            </a:r>
          </a:p>
          <a:p>
            <a:pPr lvl="0">
              <a:buFont typeface="Wingdings" pitchFamily="2" charset="2"/>
              <a:buChar char="q"/>
            </a:pPr>
            <a:r>
              <a:rPr lang="ru-RU" sz="1400" dirty="0" smtClean="0"/>
              <a:t>просмотр информации: о воспитанниках, о сотрудниках, о родителях;</a:t>
            </a:r>
          </a:p>
          <a:p>
            <a:pPr lvl="0">
              <a:buFont typeface="Wingdings" pitchFamily="2" charset="2"/>
              <a:buChar char="q"/>
            </a:pPr>
            <a:r>
              <a:rPr lang="ru-RU" sz="1400" dirty="0" smtClean="0"/>
              <a:t>контроль переполнения группы;</a:t>
            </a:r>
          </a:p>
          <a:p>
            <a:pPr lvl="0">
              <a:buFont typeface="Wingdings" pitchFamily="2" charset="2"/>
              <a:buChar char="q"/>
            </a:pPr>
            <a:r>
              <a:rPr lang="ru-RU" sz="1400" dirty="0" smtClean="0"/>
              <a:t>оформление договора об оплате услуг;</a:t>
            </a:r>
          </a:p>
          <a:p>
            <a:pPr lvl="0">
              <a:buFont typeface="Wingdings" pitchFamily="2" charset="2"/>
              <a:buChar char="q"/>
            </a:pPr>
            <a:r>
              <a:rPr lang="ru-RU" sz="1400" dirty="0" smtClean="0"/>
              <a:t>оформление отчета об посещаемости: день, месяц;</a:t>
            </a:r>
          </a:p>
          <a:p>
            <a:pPr lvl="0">
              <a:buFont typeface="Wingdings" pitchFamily="2" charset="2"/>
              <a:buChar char="q"/>
            </a:pPr>
            <a:r>
              <a:rPr lang="ru-RU" sz="1400" dirty="0" smtClean="0"/>
              <a:t>поиск информации с использованием фильтра: по статусу, по дате</a:t>
            </a:r>
            <a:r>
              <a:rPr lang="ru-RU" sz="1400" dirty="0" smtClean="0"/>
              <a:t>.</a:t>
            </a:r>
            <a:endParaRPr lang="ru-RU" sz="1400" dirty="0" smtClean="0"/>
          </a:p>
          <a:p>
            <a:pPr indent="36000"/>
            <a:r>
              <a:rPr lang="ru-RU" sz="1400" dirty="0" smtClean="0"/>
              <a:t>В </a:t>
            </a:r>
            <a:r>
              <a:rPr lang="ru-RU" sz="1400" dirty="0" smtClean="0"/>
              <a:t>дальнейшем возможна доработка программы: улучшение</a:t>
            </a:r>
          </a:p>
          <a:p>
            <a:pPr indent="36000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4134521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152</TotalTime>
  <Words>328</Words>
  <Application>Microsoft Office PowerPoint</Application>
  <PresentationFormat>Экран (4:3)</PresentationFormat>
  <Paragraphs>77</Paragraphs>
  <Slides>24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5" baseType="lpstr">
      <vt:lpstr>Ретро</vt:lpstr>
      <vt:lpstr>Слайд 1</vt:lpstr>
      <vt:lpstr>Введение</vt:lpstr>
      <vt:lpstr>Назначение разработки</vt:lpstr>
      <vt:lpstr>Требования к функциональный характеристикам</vt:lpstr>
      <vt:lpstr>Входные и выходные данные</vt:lpstr>
      <vt:lpstr>Системные требования</vt:lpstr>
      <vt:lpstr>Требования к программной документации</vt:lpstr>
      <vt:lpstr>Проектирование</vt:lpstr>
      <vt:lpstr>Диаграмма вариантов использования</vt:lpstr>
      <vt:lpstr>Диаграмма деятельности </vt:lpstr>
      <vt:lpstr>ER-диаграмма</vt:lpstr>
      <vt:lpstr>Прототип</vt:lpstr>
      <vt:lpstr>Выбор средств разработки</vt:lpstr>
      <vt:lpstr>Программные модули</vt:lpstr>
      <vt:lpstr>Программные модули</vt:lpstr>
      <vt:lpstr>Программные модули</vt:lpstr>
      <vt:lpstr>Программные модули</vt:lpstr>
      <vt:lpstr>Программные модули</vt:lpstr>
      <vt:lpstr>Программные модули</vt:lpstr>
      <vt:lpstr>Программные модули</vt:lpstr>
      <vt:lpstr>Программные модули</vt:lpstr>
      <vt:lpstr>Слайд 22</vt:lpstr>
      <vt:lpstr>Слайд 23</vt:lpstr>
      <vt:lpstr>Заключение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Студент247</cp:lastModifiedBy>
  <cp:revision>60</cp:revision>
  <dcterms:created xsi:type="dcterms:W3CDTF">2022-04-17T16:10:03Z</dcterms:created>
  <dcterms:modified xsi:type="dcterms:W3CDTF">2022-05-06T12:36:54Z</dcterms:modified>
</cp:coreProperties>
</file>